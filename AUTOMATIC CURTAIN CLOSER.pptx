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1" r:id="rId6"/>
    <p:sldId id="262" r:id="rId7"/>
    <p:sldId id="260" r:id="rId8"/>
    <p:sldId id="268" r:id="rId9"/>
    <p:sldId id="263" r:id="rId10"/>
    <p:sldId id="264" r:id="rId11"/>
    <p:sldId id="265" r:id="rId12"/>
    <p:sldId id="266" r:id="rId13"/>
    <p:sldId id="267"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5" autoAdjust="0"/>
    <p:restoredTop sz="94660"/>
  </p:normalViewPr>
  <p:slideViewPr>
    <p:cSldViewPr snapToGrid="0">
      <p:cViewPr varScale="1">
        <p:scale>
          <a:sx n="79" d="100"/>
          <a:sy n="79" d="100"/>
        </p:scale>
        <p:origin x="74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11-05T01:25:23.914"/>
    </inkml:context>
    <inkml:brush xml:id="br0">
      <inkml:brushProperty name="width" value="0.07938" units="cm"/>
      <inkml:brushProperty name="height" value="0.07938" units="cm"/>
      <inkml:brushProperty name="fitToCurve" value="1"/>
    </inkml:brush>
  </inkml:definitions>
  <inkml:trace contextRef="#ctx0" brushRef="#br0">25 379 0,'-25'-50'172,"25"25"-156,0 0-1,0 0 1,0 0-1,0 0 32,0 0 0,0 1 47,0-1-63,0 0 79,0 0-1,0 0 63,25 25-172,-25-25 15,25 25 1,-25-25 0,25 25-1,0 0 17,0 0 30,-1 0-15,1 0 0,0 0 47,0 0 46,0 0-93,0 0 16,0 0 15,0 0 15,0 0-14,0 0-1,-25 25 172,0 0-219,0 0 63,0 0-16,0 0 156,0 0-187,0-1 0,0 1 281,0 0-250,0 0-78,0 0 63,0 0 312,0 0-250,0 0-78,0 0 499,0-50-14</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11-05T01:25:54.111"/>
    </inkml:context>
    <inkml:brush xml:id="br0">
      <inkml:brushProperty name="width" value="0.07938" units="cm"/>
      <inkml:brushProperty name="height" value="0.07938" units="cm"/>
      <inkml:brushProperty name="fitToCurve" value="1"/>
    </inkml:brush>
  </inkml:definitions>
  <inkml:trace contextRef="#ctx0" brushRef="#br0">0 276 0,'0'-25'282,"0"0"-236,0 0 17,0 0-1,0 0-30,0 0 46,0 0-16,25 25-30,-25-24-17,25 24 1,-25-25 15,25 25-15,-1 0 46,-24-25-46,25 25 15,0 0 47,0 0-47,-25-25 1,25 25-17,0 0 157,0 0-47,-25 25-47,25 0-15,-25 0 31,25-25-48,0 0 95,-25 24-32,0 1 79,0 0-32,0 0-78,0 0 219,24-25-234,-24 25-16,0 0 265,0 0-93,0 0 359,0 0-344,0-1 423,0 1-517</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channel name="T" type="integer" max="2.14748E9" units="dev"/>
        </inkml:traceFormat>
        <inkml:channelProperties>
          <inkml:channelProperty channel="X" name="resolution" value="55.81395" units="1/cm"/>
          <inkml:channelProperty channel="Y" name="resolution" value="55.6701" units="1/cm"/>
          <inkml:channelProperty channel="T" name="resolution" value="1" units="1/dev"/>
        </inkml:channelProperties>
      </inkml:inkSource>
      <inkml:timestamp xml:id="ts0" timeString="2025-11-05T01:25:58.498"/>
    </inkml:context>
    <inkml:brush xml:id="br0">
      <inkml:brushProperty name="width" value="0.07938" units="cm"/>
      <inkml:brushProperty name="height" value="0.07938" units="cm"/>
      <inkml:brushProperty name="fitToCurve" value="1"/>
    </inkml:brush>
  </inkml:definitions>
  <inkml:trace contextRef="#ctx0" brushRef="#br0">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84AD019C-C54C-470B-BD70-161D86669D48}"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4230061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AD019C-C54C-470B-BD70-161D86669D48}"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40116322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AD019C-C54C-470B-BD70-161D86669D48}"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17691077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84AD019C-C54C-470B-BD70-161D86669D48}"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41583892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84AD019C-C54C-470B-BD70-161D86669D48}" type="datetimeFigureOut">
              <a:rPr lang="en-IN" smtClean="0"/>
              <a:t>04-02-2026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6772570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84AD019C-C54C-470B-BD70-161D86669D48}" type="datetimeFigureOut">
              <a:rPr lang="en-IN" smtClean="0"/>
              <a:t>04-02-2026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33010387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AD019C-C54C-470B-BD70-161D86669D48}" type="datetimeFigureOut">
              <a:rPr lang="en-IN" smtClean="0"/>
              <a:t>04-02-2026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5745261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AD019C-C54C-470B-BD70-161D86669D48}"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31130287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AD019C-C54C-470B-BD70-161D86669D48}" type="datetimeFigureOut">
              <a:rPr lang="en-IN" smtClean="0"/>
              <a:t>04-02-2026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6435591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AD019C-C54C-470B-BD70-161D86669D48}"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37836766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84AD019C-C54C-470B-BD70-161D86669D48}" type="datetimeFigureOut">
              <a:rPr lang="en-IN" smtClean="0"/>
              <a:t>04-02-2026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53371B5-EFDD-4A4D-A1B6-A27F6B2EF40D}" type="slidenum">
              <a:rPr lang="en-IN" smtClean="0"/>
              <a:t>‹#›</a:t>
            </a:fld>
            <a:endParaRPr lang="en-IN"/>
          </a:p>
        </p:txBody>
      </p:sp>
    </p:spTree>
    <p:extLst>
      <p:ext uri="{BB962C8B-B14F-4D97-AF65-F5344CB8AC3E}">
        <p14:creationId xmlns:p14="http://schemas.microsoft.com/office/powerpoint/2010/main" val="3518522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AD019C-C54C-470B-BD70-161D86669D48}" type="datetimeFigureOut">
              <a:rPr lang="en-IN" smtClean="0"/>
              <a:t>04-02-2026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3371B5-EFDD-4A4D-A1B6-A27F6B2EF40D}" type="slidenum">
              <a:rPr lang="en-IN" smtClean="0"/>
              <a:t>‹#›</a:t>
            </a:fld>
            <a:endParaRPr lang="en-IN"/>
          </a:p>
        </p:txBody>
      </p:sp>
    </p:spTree>
    <p:extLst>
      <p:ext uri="{BB962C8B-B14F-4D97-AF65-F5344CB8AC3E}">
        <p14:creationId xmlns:p14="http://schemas.microsoft.com/office/powerpoint/2010/main" val="6543427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customXml" Target="../ink/ink1.xml"/><Relationship Id="rId7" Type="http://schemas.openxmlformats.org/officeDocument/2006/relationships/customXml" Target="../ink/ink3.xml"/><Relationship Id="rId2" Type="http://schemas.openxmlformats.org/officeDocument/2006/relationships/image" Target="../media/image3.jpg"/><Relationship Id="rId1" Type="http://schemas.openxmlformats.org/officeDocument/2006/relationships/slideLayout" Target="../slideLayouts/slideLayout2.xml"/><Relationship Id="rId6" Type="http://schemas.openxmlformats.org/officeDocument/2006/relationships/image" Target="../media/image5.emf"/><Relationship Id="rId5" Type="http://schemas.openxmlformats.org/officeDocument/2006/relationships/customXml" Target="../ink/ink2.xml"/><Relationship Id="rId4" Type="http://schemas.openxmlformats.org/officeDocument/2006/relationships/image" Target="../media/image4.e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www.electronics-tutorials.ws/io/io_4.html" TargetMode="External"/><Relationship Id="rId2" Type="http://schemas.openxmlformats.org/officeDocument/2006/relationships/hyperlink" Target="https://www.st.com/resource/en/datasheet/tda2822.pdf"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08A0BB2-318A-0DE7-805B-94BFA2FEB12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43208"/>
            <a:ext cx="1733362" cy="13006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pic>
        <p:nvPicPr>
          <p:cNvPr id="5" name="Picture 4" descr="A blue and white logo&#10;&#10;Description automatically generated">
            <a:extLst>
              <a:ext uri="{FF2B5EF4-FFF2-40B4-BE49-F238E27FC236}">
                <a16:creationId xmlns:a16="http://schemas.microsoft.com/office/drawing/2014/main" id="{816A1394-BD43-3817-B1F4-A9093F60E9C5}"/>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4981" b="100000" l="9141" r="97230">
                        <a14:foregroundMark x1="24654" y1="46360" x2="33518" y2="10345"/>
                        <a14:foregroundMark x1="21607" y1="51341" x2="38504" y2="81226"/>
                        <a14:foregroundMark x1="45429" y1="12261" x2="54294" y2="9195"/>
                        <a14:foregroundMark x1="63989" y1="15326" x2="75623" y2="34866"/>
                        <a14:foregroundMark x1="64543" y1="78161" x2="77839" y2="52490"/>
                        <a14:foregroundMark x1="26039" y1="91571" x2="71191" y2="89272"/>
                        <a14:backgroundMark x1="50416" y1="81992" x2="50416" y2="81992"/>
                      </a14:backgroundRemoval>
                    </a14:imgEffect>
                  </a14:imgLayer>
                </a14:imgProps>
              </a:ext>
              <a:ext uri="{28A0092B-C50C-407E-A947-70E740481C1C}">
                <a14:useLocalDpi xmlns:a14="http://schemas.microsoft.com/office/drawing/2010/main" val="0"/>
              </a:ext>
            </a:extLst>
          </a:blip>
          <a:stretch>
            <a:fillRect/>
          </a:stretch>
        </p:blipFill>
        <p:spPr>
          <a:xfrm>
            <a:off x="10273553" y="0"/>
            <a:ext cx="1918447" cy="1387022"/>
          </a:xfrm>
          <a:prstGeom prst="rect">
            <a:avLst/>
          </a:prstGeom>
        </p:spPr>
      </p:pic>
      <p:sp>
        <p:nvSpPr>
          <p:cNvPr id="6" name="Rectangle 5"/>
          <p:cNvSpPr/>
          <p:nvPr/>
        </p:nvSpPr>
        <p:spPr>
          <a:xfrm>
            <a:off x="2622176" y="370345"/>
            <a:ext cx="6096000" cy="646331"/>
          </a:xfrm>
          <a:prstGeom prst="rect">
            <a:avLst/>
          </a:prstGeom>
        </p:spPr>
        <p:txBody>
          <a:bodyPr>
            <a:spAutoFit/>
          </a:bodyPr>
          <a:lstStyle/>
          <a:p>
            <a:pPr algn="ctr">
              <a:buClr>
                <a:srgbClr val="000000"/>
              </a:buClr>
              <a:buSzPct val="100000"/>
            </a:pPr>
            <a:r>
              <a:rPr lang="en-US" altLang="en-US" b="1">
                <a:solidFill>
                  <a:srgbClr val="002060"/>
                </a:solidFill>
                <a:latin typeface="Times New Roman" panose="02020603050405020304" pitchFamily="18" charset="0"/>
                <a:cs typeface="Times New Roman" panose="02020603050405020304" pitchFamily="18" charset="0"/>
              </a:rPr>
              <a:t>K.RAMAKRISHNAN COLLEGE OF ENGINEERING</a:t>
            </a:r>
          </a:p>
          <a:p>
            <a:pPr algn="ctr">
              <a:buClr>
                <a:srgbClr val="000000"/>
              </a:buClr>
              <a:buSzPct val="100000"/>
            </a:pPr>
            <a:r>
              <a:rPr lang="en-US" altLang="en-US" b="1">
                <a:solidFill>
                  <a:srgbClr val="002060"/>
                </a:solidFill>
                <a:latin typeface="Times New Roman" panose="02020603050405020304" pitchFamily="18" charset="0"/>
                <a:cs typeface="Times New Roman" panose="02020603050405020304" pitchFamily="18" charset="0"/>
              </a:rPr>
              <a:t>(AUTONOMOUS)</a:t>
            </a:r>
            <a:endParaRPr lang="en-IN" dirty="0">
              <a:latin typeface="Times New Roman" panose="02020603050405020304" pitchFamily="18" charset="0"/>
              <a:cs typeface="Times New Roman" panose="02020603050405020304" pitchFamily="18" charset="0"/>
            </a:endParaRPr>
          </a:p>
        </p:txBody>
      </p:sp>
      <p:sp>
        <p:nvSpPr>
          <p:cNvPr id="7" name="Rectangle 6"/>
          <p:cNvSpPr/>
          <p:nvPr/>
        </p:nvSpPr>
        <p:spPr>
          <a:xfrm>
            <a:off x="2622176" y="1129546"/>
            <a:ext cx="6096000" cy="646331"/>
          </a:xfrm>
          <a:prstGeom prst="rect">
            <a:avLst/>
          </a:prstGeom>
        </p:spPr>
        <p:txBody>
          <a:bodyPr>
            <a:spAutoFit/>
          </a:bodyPr>
          <a:lstStyle/>
          <a:p>
            <a:pPr algn="ctr"/>
            <a:r>
              <a:rPr lang="en-US" b="1" dirty="0">
                <a:solidFill>
                  <a:srgbClr val="002060"/>
                </a:solidFill>
                <a:latin typeface="Times New Roman" panose="02020603050405020304" pitchFamily="18" charset="0"/>
                <a:cs typeface="Times New Roman" panose="02020603050405020304" pitchFamily="18" charset="0"/>
              </a:rPr>
              <a:t>ECB1204 - ANALOG INTEGRATED CIRCUITS</a:t>
            </a:r>
          </a:p>
          <a:p>
            <a:endParaRPr lang="en-IN" dirty="0">
              <a:latin typeface="Times New Roman" panose="02020603050405020304" pitchFamily="18" charset="0"/>
              <a:cs typeface="Times New Roman" panose="02020603050405020304" pitchFamily="18" charset="0"/>
            </a:endParaRPr>
          </a:p>
        </p:txBody>
      </p:sp>
      <p:sp>
        <p:nvSpPr>
          <p:cNvPr id="10" name="Rectangle 9"/>
          <p:cNvSpPr/>
          <p:nvPr/>
        </p:nvSpPr>
        <p:spPr>
          <a:xfrm>
            <a:off x="6655626" y="4954034"/>
            <a:ext cx="5536374" cy="369332"/>
          </a:xfrm>
          <a:prstGeom prst="rect">
            <a:avLst/>
          </a:prstGeom>
        </p:spPr>
        <p:txBody>
          <a:bodyPr wrap="square">
            <a:spAutoFit/>
          </a:bodyPr>
          <a:lstStyle/>
          <a:p>
            <a:endParaRPr lang="en-US" b="1" dirty="0">
              <a:solidFill>
                <a:srgbClr val="001642"/>
              </a:solidFill>
              <a:latin typeface="Times New Roman" panose="02020603050405020304" pitchFamily="18" charset="0"/>
              <a:cs typeface="Times New Roman" panose="02020603050405020304" pitchFamily="18" charset="0"/>
            </a:endParaRPr>
          </a:p>
        </p:txBody>
      </p:sp>
      <p:sp>
        <p:nvSpPr>
          <p:cNvPr id="11" name="Rectangle 10"/>
          <p:cNvSpPr/>
          <p:nvPr/>
        </p:nvSpPr>
        <p:spPr>
          <a:xfrm>
            <a:off x="3236547" y="2939696"/>
            <a:ext cx="6113661" cy="461665"/>
          </a:xfrm>
          <a:prstGeom prst="rect">
            <a:avLst/>
          </a:prstGeom>
        </p:spPr>
        <p:txBody>
          <a:bodyPr wrap="none">
            <a:spAutoFit/>
          </a:bodyPr>
          <a:lstStyle/>
          <a:p>
            <a:r>
              <a:rPr lang="en-IN" sz="2400" b="1" dirty="0">
                <a:latin typeface="Times New Roman" panose="02020603050405020304" pitchFamily="18" charset="0"/>
                <a:cs typeface="Times New Roman" panose="02020603050405020304" pitchFamily="18" charset="0"/>
              </a:rPr>
              <a:t>TITLE : AUTOMATIC CURTAIN CLOSER</a:t>
            </a:r>
          </a:p>
        </p:txBody>
      </p:sp>
    </p:spTree>
    <p:extLst>
      <p:ext uri="{BB962C8B-B14F-4D97-AF65-F5344CB8AC3E}">
        <p14:creationId xmlns:p14="http://schemas.microsoft.com/office/powerpoint/2010/main" val="1572102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0"/>
            <a:ext cx="10515600" cy="1325563"/>
          </a:xfrm>
        </p:spPr>
        <p:txBody>
          <a:bodyPr>
            <a:normAutofit/>
          </a:bodyPr>
          <a:lstStyle/>
          <a:p>
            <a:r>
              <a:rPr lang="en-US" sz="3600" dirty="0">
                <a:latin typeface="Times New Roman" panose="02020603050405020304" pitchFamily="18" charset="0"/>
                <a:cs typeface="Times New Roman" panose="02020603050405020304" pitchFamily="18" charset="0"/>
              </a:rPr>
              <a:t>                             ABSTRACT</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470212"/>
            <a:ext cx="10515600" cy="5120159"/>
          </a:xfrm>
        </p:spPr>
        <p:txBody>
          <a:bodyPr>
            <a:noAutofit/>
          </a:bodyPr>
          <a:lstStyle/>
          <a:p>
            <a:pPr marL="0" indent="0" algn="just">
              <a:lnSpc>
                <a:spcPct val="160000"/>
              </a:lnSpc>
              <a:buNone/>
            </a:pPr>
            <a:r>
              <a:rPr lang="en-US" sz="1900" dirty="0">
                <a:latin typeface="Times New Roman" panose="02020603050405020304" pitchFamily="18" charset="0"/>
                <a:cs typeface="Times New Roman" panose="02020603050405020304" pitchFamily="18" charset="0"/>
              </a:rPr>
              <a:t>The Automatic Curtain Closer is a smart home automation system designed to provide convenience, energy efficiency, and enhanced security. This system automatically opens and closes curtains based on environmental factors such as light intensity, time of day, or user preference. Using sensors like the LDR (Light Dependent Resistor) and a microcontroller such as Arduino, the system detects the surrounding light level and triggers a motor to operate the curtain accordingly. During bright daylight, the curtains open to allow natural light, while in dim conditions or at night, they close automatically to maintain privacy. This project reduces the need for manual operation, saves energy by optimizing natural lighting, and improves comfort in modern households. It can also be integrated with IoT technology for remote control through smartphones, making it a practical and cost-effective solution for smart living environments.</a:t>
            </a:r>
          </a:p>
        </p:txBody>
      </p:sp>
    </p:spTree>
    <p:extLst>
      <p:ext uri="{BB962C8B-B14F-4D97-AF65-F5344CB8AC3E}">
        <p14:creationId xmlns:p14="http://schemas.microsoft.com/office/powerpoint/2010/main" val="18164995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COMPONENTS REQUIRED </a:t>
            </a:r>
            <a:endParaRPr lang="en-IN" sz="3600"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F41F2ED5-DB96-43BF-8F0D-2953F53D2492}"/>
              </a:ext>
            </a:extLst>
          </p:cNvPr>
          <p:cNvSpPr>
            <a:spLocks noGrp="1" noChangeArrowheads="1"/>
          </p:cNvSpPr>
          <p:nvPr>
            <p:ph idx="1"/>
          </p:nvPr>
        </p:nvSpPr>
        <p:spPr bwMode="auto">
          <a:xfrm>
            <a:off x="1054754" y="1944393"/>
            <a:ext cx="8905034"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IC 2822A</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LDR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10KΩ Resistors (2 )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DC Motor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Capacitors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 (VCC)</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Connecting Wires</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Breadboard </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Curtain Mechanism ( Pulley System</a:t>
            </a:r>
            <a:r>
              <a:rPr kumimoji="0" lang="en-US" altLang="en-US" sz="24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10996069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b="1" dirty="0">
                <a:solidFill>
                  <a:srgbClr val="002060"/>
                </a:solidFill>
                <a:latin typeface="Times New Roman" panose="02020603050405020304" pitchFamily="18" charset="0"/>
                <a:cs typeface="Times New Roman" panose="02020603050405020304" pitchFamily="18" charset="0"/>
              </a:rPr>
              <a:t>CIRCUIT DESIGN</a:t>
            </a:r>
            <a:endParaRPr lang="en-IN" sz="3600" b="1" dirty="0">
              <a:solidFill>
                <a:srgbClr val="002060"/>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15D3BE92-2B0C-4F0B-8959-53DD10AD1960}"/>
              </a:ext>
            </a:extLst>
          </p:cNvPr>
          <p:cNvSpPr/>
          <p:nvPr/>
        </p:nvSpPr>
        <p:spPr>
          <a:xfrm>
            <a:off x="4307840" y="2176641"/>
            <a:ext cx="1395382" cy="276999"/>
          </a:xfrm>
          <a:prstGeom prst="rect">
            <a:avLst/>
          </a:prstGeom>
          <a:noFill/>
        </p:spPr>
        <p:txBody>
          <a:bodyPr wrap="none" lIns="91440" tIns="45720" rIns="91440" bIns="45720">
            <a:spAutoFit/>
          </a:bodyPr>
          <a:lstStyle/>
          <a:p>
            <a:r>
              <a:rPr lang="en-US" sz="1200" b="1" dirty="0"/>
              <a:t>lithium-ion battery</a:t>
            </a:r>
            <a:endParaRPr lang="en-US" sz="1200" b="0" cap="none" spc="0" dirty="0">
              <a:ln w="0"/>
              <a:solidFill>
                <a:schemeClr val="tx1"/>
              </a:solidFill>
              <a:effectLst>
                <a:outerShdw blurRad="38100" dist="19050" dir="2700000" algn="tl" rotWithShape="0">
                  <a:schemeClr val="dk1">
                    <a:alpha val="40000"/>
                  </a:schemeClr>
                </a:outerShdw>
              </a:effectLst>
            </a:endParaRPr>
          </a:p>
        </p:txBody>
      </p:sp>
      <p:cxnSp>
        <p:nvCxnSpPr>
          <p:cNvPr id="9" name="Straight Connector 8">
            <a:extLst>
              <a:ext uri="{FF2B5EF4-FFF2-40B4-BE49-F238E27FC236}">
                <a16:creationId xmlns:a16="http://schemas.microsoft.com/office/drawing/2014/main" id="{B6C1BEA1-6AAA-45D5-B461-617FE5BF037F}"/>
              </a:ext>
            </a:extLst>
          </p:cNvPr>
          <p:cNvCxnSpPr>
            <a:cxnSpLocks/>
          </p:cNvCxnSpPr>
          <p:nvPr/>
        </p:nvCxnSpPr>
        <p:spPr>
          <a:xfrm>
            <a:off x="7213600" y="2885440"/>
            <a:ext cx="0" cy="980917"/>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10" name="Content Placeholder 9">
            <a:extLst>
              <a:ext uri="{FF2B5EF4-FFF2-40B4-BE49-F238E27FC236}">
                <a16:creationId xmlns:a16="http://schemas.microsoft.com/office/drawing/2014/main" id="{2E9DEB7C-C309-4792-AA64-9245D0EE2DC4}"/>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rot="16200000">
            <a:off x="4142573" y="1561166"/>
            <a:ext cx="3605394" cy="4351338"/>
          </a:xfrm>
        </p:spPr>
      </p:pic>
      <p:cxnSp>
        <p:nvCxnSpPr>
          <p:cNvPr id="14" name="Straight Connector 13">
            <a:extLst>
              <a:ext uri="{FF2B5EF4-FFF2-40B4-BE49-F238E27FC236}">
                <a16:creationId xmlns:a16="http://schemas.microsoft.com/office/drawing/2014/main" id="{B5928B85-1269-42B9-9912-2AA0E9CDD43B}"/>
              </a:ext>
            </a:extLst>
          </p:cNvPr>
          <p:cNvCxnSpPr/>
          <p:nvPr/>
        </p:nvCxnSpPr>
        <p:spPr>
          <a:xfrm flipH="1">
            <a:off x="4939553" y="2252387"/>
            <a:ext cx="600635" cy="0"/>
          </a:xfrm>
          <a:prstGeom prst="line">
            <a:avLst/>
          </a:prstGeom>
        </p:spPr>
        <p:style>
          <a:lnRef idx="1">
            <a:schemeClr val="dk1"/>
          </a:lnRef>
          <a:fillRef idx="0">
            <a:schemeClr val="dk1"/>
          </a:fillRef>
          <a:effectRef idx="0">
            <a:schemeClr val="dk1"/>
          </a:effectRef>
          <a:fontRef idx="minor">
            <a:schemeClr val="tx1"/>
          </a:fontRef>
        </p:style>
      </p:cxnSp>
      <p:sp>
        <p:nvSpPr>
          <p:cNvPr id="16" name="TextBox 15">
            <a:extLst>
              <a:ext uri="{FF2B5EF4-FFF2-40B4-BE49-F238E27FC236}">
                <a16:creationId xmlns:a16="http://schemas.microsoft.com/office/drawing/2014/main" id="{49851CD0-CD1F-4AB7-A545-AAD153F34719}"/>
              </a:ext>
            </a:extLst>
          </p:cNvPr>
          <p:cNvSpPr txBox="1"/>
          <p:nvPr/>
        </p:nvSpPr>
        <p:spPr>
          <a:xfrm>
            <a:off x="5331435" y="2971800"/>
            <a:ext cx="208753" cy="1200329"/>
          </a:xfrm>
          <a:prstGeom prst="rect">
            <a:avLst/>
          </a:prstGeom>
          <a:noFill/>
        </p:spPr>
        <p:txBody>
          <a:bodyPr wrap="square" rtlCol="0">
            <a:spAutoFit/>
          </a:bodyPr>
          <a:lstStyle/>
          <a:p>
            <a:r>
              <a:rPr lang="en-US" dirty="0"/>
              <a:t>1234</a:t>
            </a:r>
          </a:p>
        </p:txBody>
      </p:sp>
      <p:sp>
        <p:nvSpPr>
          <p:cNvPr id="17" name="TextBox 16">
            <a:extLst>
              <a:ext uri="{FF2B5EF4-FFF2-40B4-BE49-F238E27FC236}">
                <a16:creationId xmlns:a16="http://schemas.microsoft.com/office/drawing/2014/main" id="{F6212AC9-B5BC-4100-832F-3F8AA5D38D83}"/>
              </a:ext>
            </a:extLst>
          </p:cNvPr>
          <p:cNvSpPr txBox="1"/>
          <p:nvPr/>
        </p:nvSpPr>
        <p:spPr>
          <a:xfrm>
            <a:off x="5638800" y="2971800"/>
            <a:ext cx="914400" cy="1200329"/>
          </a:xfrm>
          <a:prstGeom prst="rect">
            <a:avLst/>
          </a:prstGeom>
          <a:noFill/>
        </p:spPr>
        <p:txBody>
          <a:bodyPr wrap="square" rtlCol="0">
            <a:spAutoFit/>
          </a:bodyPr>
          <a:lstStyle/>
          <a:p>
            <a:r>
              <a:rPr lang="en-US" dirty="0"/>
              <a:t>8</a:t>
            </a:r>
          </a:p>
          <a:p>
            <a:r>
              <a:rPr lang="en-US" dirty="0"/>
              <a:t>7</a:t>
            </a:r>
          </a:p>
          <a:p>
            <a:r>
              <a:rPr lang="en-US" dirty="0"/>
              <a:t>6</a:t>
            </a:r>
          </a:p>
          <a:p>
            <a:r>
              <a:rPr lang="en-US" dirty="0"/>
              <a:t>5</a:t>
            </a:r>
          </a:p>
        </p:txBody>
      </p:sp>
      <mc:AlternateContent xmlns:mc="http://schemas.openxmlformats.org/markup-compatibility/2006" xmlns:p14="http://schemas.microsoft.com/office/powerpoint/2010/main">
        <mc:Choice Requires="p14">
          <p:contentPart p14:bwMode="auto" r:id="rId3">
            <p14:nvContentPartPr>
              <p14:cNvPr id="24" name="Ink 23">
                <a:extLst>
                  <a:ext uri="{FF2B5EF4-FFF2-40B4-BE49-F238E27FC236}">
                    <a16:creationId xmlns:a16="http://schemas.microsoft.com/office/drawing/2014/main" id="{FF7C5F07-E948-4019-896C-6C12732298CB}"/>
                  </a:ext>
                </a:extLst>
              </p14:cNvPr>
              <p14:cNvContentPartPr/>
              <p14:nvPr/>
            </p14:nvContentPartPr>
            <p14:xfrm>
              <a:off x="6472511" y="2965454"/>
              <a:ext cx="135000" cy="138600"/>
            </p14:xfrm>
          </p:contentPart>
        </mc:Choice>
        <mc:Fallback xmlns="">
          <p:pic>
            <p:nvPicPr>
              <p:cNvPr id="24" name="Ink 23">
                <a:extLst>
                  <a:ext uri="{FF2B5EF4-FFF2-40B4-BE49-F238E27FC236}">
                    <a16:creationId xmlns:a16="http://schemas.microsoft.com/office/drawing/2014/main" id="{FF7C5F07-E948-4019-896C-6C12732298CB}"/>
                  </a:ext>
                </a:extLst>
              </p:cNvPr>
              <p:cNvPicPr/>
              <p:nvPr/>
            </p:nvPicPr>
            <p:blipFill>
              <a:blip r:embed="rId4"/>
              <a:stretch>
                <a:fillRect/>
              </a:stretch>
            </p:blipFill>
            <p:spPr>
              <a:xfrm>
                <a:off x="6458111" y="2951054"/>
                <a:ext cx="163080" cy="16668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26" name="Ink 25">
                <a:extLst>
                  <a:ext uri="{FF2B5EF4-FFF2-40B4-BE49-F238E27FC236}">
                    <a16:creationId xmlns:a16="http://schemas.microsoft.com/office/drawing/2014/main" id="{5EA75B93-2DEB-46B2-977F-971CE0313EF8}"/>
                  </a:ext>
                </a:extLst>
              </p14:cNvPr>
              <p14:cNvContentPartPr/>
              <p14:nvPr/>
            </p14:nvContentPartPr>
            <p14:xfrm>
              <a:off x="6490511" y="3639014"/>
              <a:ext cx="128520" cy="135360"/>
            </p14:xfrm>
          </p:contentPart>
        </mc:Choice>
        <mc:Fallback xmlns="">
          <p:pic>
            <p:nvPicPr>
              <p:cNvPr id="26" name="Ink 25">
                <a:extLst>
                  <a:ext uri="{FF2B5EF4-FFF2-40B4-BE49-F238E27FC236}">
                    <a16:creationId xmlns:a16="http://schemas.microsoft.com/office/drawing/2014/main" id="{5EA75B93-2DEB-46B2-977F-971CE0313EF8}"/>
                  </a:ext>
                </a:extLst>
              </p:cNvPr>
              <p:cNvPicPr/>
              <p:nvPr/>
            </p:nvPicPr>
            <p:blipFill>
              <a:blip r:embed="rId6"/>
              <a:stretch>
                <a:fillRect/>
              </a:stretch>
            </p:blipFill>
            <p:spPr>
              <a:xfrm>
                <a:off x="6476111" y="3624614"/>
                <a:ext cx="156600" cy="1634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27" name="Ink 26">
                <a:extLst>
                  <a:ext uri="{FF2B5EF4-FFF2-40B4-BE49-F238E27FC236}">
                    <a16:creationId xmlns:a16="http://schemas.microsoft.com/office/drawing/2014/main" id="{9246EC2D-3440-4641-84D7-74C302E28306}"/>
                  </a:ext>
                </a:extLst>
              </p14:cNvPr>
              <p14:cNvContentPartPr/>
              <p14:nvPr/>
            </p14:nvContentPartPr>
            <p14:xfrm>
              <a:off x="8202671" y="3227174"/>
              <a:ext cx="360" cy="360"/>
            </p14:xfrm>
          </p:contentPart>
        </mc:Choice>
        <mc:Fallback xmlns="">
          <p:pic>
            <p:nvPicPr>
              <p:cNvPr id="27" name="Ink 26">
                <a:extLst>
                  <a:ext uri="{FF2B5EF4-FFF2-40B4-BE49-F238E27FC236}">
                    <a16:creationId xmlns:a16="http://schemas.microsoft.com/office/drawing/2014/main" id="{9246EC2D-3440-4641-84D7-74C302E28306}"/>
                  </a:ext>
                </a:extLst>
              </p:cNvPr>
              <p:cNvPicPr/>
              <p:nvPr/>
            </p:nvPicPr>
            <p:blipFill>
              <a:blip r:embed="rId8"/>
              <a:stretch>
                <a:fillRect/>
              </a:stretch>
            </p:blipFill>
            <p:spPr>
              <a:xfrm>
                <a:off x="8188271" y="3212774"/>
                <a:ext cx="28440" cy="28440"/>
              </a:xfrm>
              <a:prstGeom prst="rect">
                <a:avLst/>
              </a:prstGeom>
            </p:spPr>
          </p:pic>
        </mc:Fallback>
      </mc:AlternateContent>
      <p:sp>
        <p:nvSpPr>
          <p:cNvPr id="29" name="TextBox 28">
            <a:extLst>
              <a:ext uri="{FF2B5EF4-FFF2-40B4-BE49-F238E27FC236}">
                <a16:creationId xmlns:a16="http://schemas.microsoft.com/office/drawing/2014/main" id="{9C18F6EC-3300-45CF-B465-114780D4A9C4}"/>
              </a:ext>
            </a:extLst>
          </p:cNvPr>
          <p:cNvSpPr txBox="1"/>
          <p:nvPr/>
        </p:nvSpPr>
        <p:spPr>
          <a:xfrm>
            <a:off x="4202305" y="5014811"/>
            <a:ext cx="1129130" cy="276999"/>
          </a:xfrm>
          <a:prstGeom prst="rect">
            <a:avLst/>
          </a:prstGeom>
          <a:noFill/>
        </p:spPr>
        <p:txBody>
          <a:bodyPr wrap="square" rtlCol="0">
            <a:spAutoFit/>
          </a:bodyPr>
          <a:lstStyle/>
          <a:p>
            <a:r>
              <a:rPr lang="en-US" sz="1200" dirty="0"/>
              <a:t>BATTERY</a:t>
            </a:r>
          </a:p>
        </p:txBody>
      </p:sp>
      <p:cxnSp>
        <p:nvCxnSpPr>
          <p:cNvPr id="31" name="Straight Connector 30">
            <a:extLst>
              <a:ext uri="{FF2B5EF4-FFF2-40B4-BE49-F238E27FC236}">
                <a16:creationId xmlns:a16="http://schemas.microsoft.com/office/drawing/2014/main" id="{7A560306-00F0-4A0E-AFDF-909769F0E61E}"/>
              </a:ext>
            </a:extLst>
          </p:cNvPr>
          <p:cNvCxnSpPr/>
          <p:nvPr/>
        </p:nvCxnSpPr>
        <p:spPr>
          <a:xfrm flipH="1">
            <a:off x="4410635" y="3104054"/>
            <a:ext cx="466165" cy="0"/>
          </a:xfrm>
          <a:prstGeom prst="line">
            <a:avLst/>
          </a:prstGeom>
        </p:spPr>
        <p:style>
          <a:lnRef idx="1">
            <a:schemeClr val="dk1"/>
          </a:lnRef>
          <a:fillRef idx="0">
            <a:schemeClr val="dk1"/>
          </a:fillRef>
          <a:effectRef idx="0">
            <a:schemeClr val="dk1"/>
          </a:effectRef>
          <a:fontRef idx="minor">
            <a:schemeClr val="tx1"/>
          </a:fontRef>
        </p:style>
      </p:cxnSp>
      <p:sp>
        <p:nvSpPr>
          <p:cNvPr id="32" name="Rectangle 31">
            <a:extLst>
              <a:ext uri="{FF2B5EF4-FFF2-40B4-BE49-F238E27FC236}">
                <a16:creationId xmlns:a16="http://schemas.microsoft.com/office/drawing/2014/main" id="{59A08EFE-C649-48BF-8ECF-398155AB1DB0}"/>
              </a:ext>
            </a:extLst>
          </p:cNvPr>
          <p:cNvSpPr/>
          <p:nvPr/>
        </p:nvSpPr>
        <p:spPr>
          <a:xfrm>
            <a:off x="3982824" y="3012411"/>
            <a:ext cx="455019" cy="85393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6" name="Straight Connector 35">
            <a:extLst>
              <a:ext uri="{FF2B5EF4-FFF2-40B4-BE49-F238E27FC236}">
                <a16:creationId xmlns:a16="http://schemas.microsoft.com/office/drawing/2014/main" id="{334F17DC-5339-4D39-BAD5-7C93222944FD}"/>
              </a:ext>
            </a:extLst>
          </p:cNvPr>
          <p:cNvCxnSpPr/>
          <p:nvPr/>
        </p:nvCxnSpPr>
        <p:spPr>
          <a:xfrm flipH="1">
            <a:off x="4410635" y="3774374"/>
            <a:ext cx="466165" cy="0"/>
          </a:xfrm>
          <a:prstGeom prst="line">
            <a:avLst/>
          </a:prstGeom>
        </p:spPr>
        <p:style>
          <a:lnRef idx="1">
            <a:schemeClr val="dk1"/>
          </a:lnRef>
          <a:fillRef idx="0">
            <a:schemeClr val="dk1"/>
          </a:fillRef>
          <a:effectRef idx="0">
            <a:schemeClr val="dk1"/>
          </a:effectRef>
          <a:fontRef idx="minor">
            <a:schemeClr val="tx1"/>
          </a:fontRef>
        </p:style>
      </p:cxnSp>
      <p:sp>
        <p:nvSpPr>
          <p:cNvPr id="38" name="TextBox 37">
            <a:extLst>
              <a:ext uri="{FF2B5EF4-FFF2-40B4-BE49-F238E27FC236}">
                <a16:creationId xmlns:a16="http://schemas.microsoft.com/office/drawing/2014/main" id="{18E7F414-EE07-471B-89DA-A2E2E6A9F0FB}"/>
              </a:ext>
            </a:extLst>
          </p:cNvPr>
          <p:cNvSpPr txBox="1"/>
          <p:nvPr/>
        </p:nvSpPr>
        <p:spPr>
          <a:xfrm>
            <a:off x="4049283" y="2998113"/>
            <a:ext cx="208754" cy="861774"/>
          </a:xfrm>
          <a:prstGeom prst="rect">
            <a:avLst/>
          </a:prstGeom>
          <a:noFill/>
        </p:spPr>
        <p:txBody>
          <a:bodyPr wrap="square" rtlCol="0">
            <a:spAutoFit/>
          </a:bodyPr>
          <a:lstStyle/>
          <a:p>
            <a:r>
              <a:rPr lang="en-US" sz="1000" dirty="0"/>
              <a:t>MOTOR</a:t>
            </a:r>
          </a:p>
        </p:txBody>
      </p:sp>
      <p:sp>
        <p:nvSpPr>
          <p:cNvPr id="39" name="Rectangle 38">
            <a:extLst>
              <a:ext uri="{FF2B5EF4-FFF2-40B4-BE49-F238E27FC236}">
                <a16:creationId xmlns:a16="http://schemas.microsoft.com/office/drawing/2014/main" id="{7835E6ED-9D82-4A72-9978-07300DCC58DF}"/>
              </a:ext>
            </a:extLst>
          </p:cNvPr>
          <p:cNvSpPr/>
          <p:nvPr/>
        </p:nvSpPr>
        <p:spPr>
          <a:xfrm>
            <a:off x="4849951" y="3123958"/>
            <a:ext cx="89602" cy="62998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9768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600" dirty="0">
                <a:latin typeface="Times New Roman" panose="02020603050405020304" pitchFamily="18" charset="0"/>
                <a:cs typeface="Times New Roman" panose="02020603050405020304" pitchFamily="18" charset="0"/>
              </a:rPr>
              <a:t>CIRCUIT DESIGN EXPLANATION</a:t>
            </a:r>
          </a:p>
        </p:txBody>
      </p:sp>
      <p:sp>
        <p:nvSpPr>
          <p:cNvPr id="4" name="Rectangle 1">
            <a:extLst>
              <a:ext uri="{FF2B5EF4-FFF2-40B4-BE49-F238E27FC236}">
                <a16:creationId xmlns:a16="http://schemas.microsoft.com/office/drawing/2014/main" id="{7EDBD255-EF8E-4C6B-824D-FDDA7C5C94FA}"/>
              </a:ext>
            </a:extLst>
          </p:cNvPr>
          <p:cNvSpPr>
            <a:spLocks noGrp="1" noChangeArrowheads="1"/>
          </p:cNvSpPr>
          <p:nvPr>
            <p:ph idx="1"/>
          </p:nvPr>
        </p:nvSpPr>
        <p:spPr bwMode="auto">
          <a:xfrm>
            <a:off x="838200" y="2519674"/>
            <a:ext cx="10378440" cy="21236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circuit uses an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IC 2822A</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as the main control unit to operate the curtain based on the surrounding light intensity.</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is powered by a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lithium-ion battery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which supplies DC voltage to the IC and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10Ω DC motor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Two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Light Dependent Resistors (LDRs)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are connected with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10kΩ resistors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form a voltage divider network that detects the ambient light level.</a:t>
            </a:r>
          </a:p>
        </p:txBody>
      </p:sp>
    </p:spTree>
    <p:extLst>
      <p:ext uri="{BB962C8B-B14F-4D97-AF65-F5344CB8AC3E}">
        <p14:creationId xmlns:p14="http://schemas.microsoft.com/office/powerpoint/2010/main" val="27395240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CD09870-55A2-42FF-8433-6FCC64115254}"/>
              </a:ext>
            </a:extLst>
          </p:cNvPr>
          <p:cNvSpPr>
            <a:spLocks noGrp="1" noChangeArrowheads="1"/>
          </p:cNvSpPr>
          <p:nvPr>
            <p:ph idx="1"/>
          </p:nvPr>
        </p:nvSpPr>
        <p:spPr bwMode="auto">
          <a:xfrm>
            <a:off x="558800" y="1859657"/>
            <a:ext cx="10139680"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light intensity decreases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(dark condition),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LDR resistance increases</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raising the voltage at the IC input →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IC output (pin 5)</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becomes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activating the motor.</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motor</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then rotates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closes the curtain automatically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the mechanical linkage.</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As brightness returns, the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LDR detects the light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reducing its resistance → the IC output turns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LOW</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stopping the motor and leaving the curtain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automatic operation demonstrates how the circuit can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save energy</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increase comfort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and </a:t>
            </a:r>
            <a:r>
              <a:rPr kumimoji="0" lang="en-US" altLang="en-US" sz="22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 manual effort</a:t>
            </a:r>
            <a:r>
              <a:rPr kumimoji="0" lang="en-US" altLang="en-US" sz="2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 daily life.</a:t>
            </a:r>
          </a:p>
        </p:txBody>
      </p:sp>
    </p:spTree>
    <p:extLst>
      <p:ext uri="{BB962C8B-B14F-4D97-AF65-F5344CB8AC3E}">
        <p14:creationId xmlns:p14="http://schemas.microsoft.com/office/powerpoint/2010/main" val="6380570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29266"/>
            <a:ext cx="10515600" cy="1325563"/>
          </a:xfrm>
        </p:spPr>
        <p:txBody>
          <a:bodyPr/>
          <a:lstStyle/>
          <a:p>
            <a:pPr algn="ctr"/>
            <a:r>
              <a:rPr lang="en-US" dirty="0">
                <a:latin typeface="Times New Roman" panose="02020603050405020304" pitchFamily="18" charset="0"/>
                <a:cs typeface="Times New Roman" panose="02020603050405020304" pitchFamily="18" charset="0"/>
              </a:rPr>
              <a:t>WORKING PRINCIPLE</a:t>
            </a:r>
            <a:br>
              <a:rPr lang="en-IN" b="1" dirty="0">
                <a:solidFill>
                  <a:srgbClr val="002060"/>
                </a:solidFill>
                <a:latin typeface="Times New Roman" panose="02020603050405020304" pitchFamily="18" charset="0"/>
                <a:cs typeface="Times New Roman" panose="02020603050405020304" pitchFamily="18" charset="0"/>
              </a:rPr>
            </a:br>
            <a:endParaRPr lang="en-IN" dirty="0"/>
          </a:p>
        </p:txBody>
      </p:sp>
      <p:sp>
        <p:nvSpPr>
          <p:cNvPr id="3" name="Rectangle 1">
            <a:extLst>
              <a:ext uri="{FF2B5EF4-FFF2-40B4-BE49-F238E27FC236}">
                <a16:creationId xmlns:a16="http://schemas.microsoft.com/office/drawing/2014/main" id="{12E820F9-57A6-4783-845F-D378FFB53128}"/>
              </a:ext>
            </a:extLst>
          </p:cNvPr>
          <p:cNvSpPr>
            <a:spLocks noGrp="1" noChangeArrowheads="1"/>
          </p:cNvSpPr>
          <p:nvPr>
            <p:ph idx="1"/>
          </p:nvPr>
        </p:nvSpPr>
        <p:spPr bwMode="auto">
          <a:xfrm>
            <a:off x="838200" y="1750501"/>
            <a:ext cx="10242364"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Power Supply:</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 rechargeable lithium-ion battery provides a stable DC voltage to the entire circuit. It powers the IC 2822A, the DC motor, and the LDR sensor, ensuring smooth and continuous operation without external power.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Control Circuit:</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main control circuit is built on a breadboard using the IC 2822A, resistors, and the LDR sensor. The IC processes the voltage from the LDR and decides whether to turn the motor ON or OFF based on the surrounding light intensity.</a:t>
            </a:r>
          </a:p>
          <a:p>
            <a:pPr marL="0" lvl="0" indent="0" eaLnBrk="0" fontAlgn="base" hangingPunct="0">
              <a:lnSpc>
                <a:spcPct val="100000"/>
              </a:lnSpc>
              <a:spcBef>
                <a:spcPct val="0"/>
              </a:spcBef>
              <a:spcAft>
                <a:spcPct val="0"/>
              </a:spcAft>
              <a:buFontTx/>
              <a:buChar char="•"/>
            </a:pPr>
            <a:r>
              <a:rPr lang="en-US" sz="2000" b="1" dirty="0">
                <a:latin typeface="Times New Roman" panose="02020603050405020304" pitchFamily="18" charset="0"/>
                <a:cs typeface="Times New Roman" panose="02020603050405020304" pitchFamily="18" charset="0"/>
              </a:rPr>
              <a:t>LDR Function:</a:t>
            </a:r>
            <a:br>
              <a:rPr lang="en-US" sz="2000" dirty="0">
                <a:latin typeface="Times New Roman" panose="02020603050405020304" pitchFamily="18" charset="0"/>
                <a:cs typeface="Times New Roman" panose="02020603050405020304" pitchFamily="18" charset="0"/>
              </a:rPr>
            </a:br>
            <a:r>
              <a:rPr lang="en-US" sz="2000" dirty="0">
                <a:latin typeface="Times New Roman" panose="02020603050405020304" pitchFamily="18" charset="0"/>
                <a:cs typeface="Times New Roman" panose="02020603050405020304" pitchFamily="18" charset="0"/>
              </a:rPr>
              <a:t>The Light Dependent Resistor (LDR) changes its resistance depending on light levels. In bright light, its resistance is low, keeping the motor OFF and the curtain open. When it becomes dark, the resistance increases, signaling the IC to activate the motor and close the curtain.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176858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1">
            <a:extLst>
              <a:ext uri="{FF2B5EF4-FFF2-40B4-BE49-F238E27FC236}">
                <a16:creationId xmlns:a16="http://schemas.microsoft.com/office/drawing/2014/main" id="{07CD5389-9AE8-4A1A-A5E2-B824A5579787}"/>
              </a:ext>
            </a:extLst>
          </p:cNvPr>
          <p:cNvSpPr>
            <a:spLocks noGrp="1" noChangeArrowheads="1"/>
          </p:cNvSpPr>
          <p:nvPr>
            <p:ph idx="1"/>
          </p:nvPr>
        </p:nvSpPr>
        <p:spPr bwMode="auto">
          <a:xfrm>
            <a:off x="1056714" y="1898190"/>
            <a:ext cx="9942979" cy="28623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DC Motor Setup:</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DC motor is connected to a simple mechanical setup, such as a pulley or rod, which represents the curtain movement. When the motor receives power, it rotates and pulls the curtain closed automatically, demonstrating the closing mechanism clearly.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Operation:</a:t>
            </a:r>
            <a:b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b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During darkness, the LDR senses the drop in light intensity, the IC output becomes HIGH, and the motor closes the curtain. When daylight returns, the LDR resistance decreases, turning the IC output LOW and stopping the motor, leaving the curtain open. This ensures automatic operation without manual effort.</a:t>
            </a:r>
          </a:p>
        </p:txBody>
      </p:sp>
    </p:spTree>
    <p:extLst>
      <p:ext uri="{BB962C8B-B14F-4D97-AF65-F5344CB8AC3E}">
        <p14:creationId xmlns:p14="http://schemas.microsoft.com/office/powerpoint/2010/main" val="34437918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sz="3600" b="1" dirty="0">
                <a:solidFill>
                  <a:srgbClr val="002060"/>
                </a:solidFill>
                <a:latin typeface="Times New Roman" panose="02020603050405020304" pitchFamily="18" charset="0"/>
                <a:cs typeface="Times New Roman" panose="02020603050405020304" pitchFamily="18" charset="0"/>
              </a:rPr>
              <a:t>RESULT AND DISCUSSION</a:t>
            </a:r>
            <a:br>
              <a:rPr lang="en-IN" b="1" dirty="0">
                <a:solidFill>
                  <a:srgbClr val="002060"/>
                </a:solidFill>
                <a:latin typeface="Times New Roman" panose="02020603050405020304" pitchFamily="18" charset="0"/>
                <a:cs typeface="Times New Roman" panose="02020603050405020304" pitchFamily="18" charset="0"/>
              </a:rPr>
            </a:br>
            <a:endParaRPr lang="en-IN" dirty="0"/>
          </a:p>
        </p:txBody>
      </p:sp>
      <p:pic>
        <p:nvPicPr>
          <p:cNvPr id="7" name="Content Placeholder 6">
            <a:extLst>
              <a:ext uri="{FF2B5EF4-FFF2-40B4-BE49-F238E27FC236}">
                <a16:creationId xmlns:a16="http://schemas.microsoft.com/office/drawing/2014/main" id="{96A4DE20-7374-46EB-ACC9-05036493A2E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rot="16200000">
            <a:off x="3662001" y="776041"/>
            <a:ext cx="4476303" cy="5949812"/>
          </a:xfrm>
        </p:spPr>
      </p:pic>
    </p:spTree>
    <p:extLst>
      <p:ext uri="{BB962C8B-B14F-4D97-AF65-F5344CB8AC3E}">
        <p14:creationId xmlns:p14="http://schemas.microsoft.com/office/powerpoint/2010/main" val="4133857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a:spLocks noGrp="1" noChangeArrowheads="1"/>
          </p:cNvSpPr>
          <p:nvPr>
            <p:ph idx="1"/>
          </p:nvPr>
        </p:nvSpPr>
        <p:spPr bwMode="auto">
          <a:xfrm>
            <a:off x="353935" y="1129640"/>
            <a:ext cx="11432903" cy="41513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just" eaLnBrk="0" fontAlgn="base" hangingPunct="0">
              <a:lnSpc>
                <a:spcPct val="150000"/>
              </a:lnSpc>
              <a:spcBef>
                <a:spcPct val="0"/>
              </a:spcBef>
              <a:spcAft>
                <a:spcPct val="0"/>
              </a:spcAft>
              <a:buNone/>
            </a:pPr>
            <a:r>
              <a:rPr lang="en-US" sz="2000" dirty="0">
                <a:latin typeface="Times New Roman" panose="02020603050405020304" pitchFamily="18" charset="0"/>
                <a:cs typeface="Times New Roman" panose="02020603050405020304" pitchFamily="18" charset="0"/>
              </a:rPr>
              <a:t>The Automatic Curtain Closer system successfully detects variations in ambient light intensity and automatically operates the curtain based on the detected light levels. During bright daylight, the LDR senses high light intensity, causing the motor to rotate and open the curtain, allowing natural light to enter the room. As the surrounding light decreases during the evening or in darkness, the resistance of the LDR increases, which triggers the motor to rotate in the opposite direction, thereby closing the curtain. The circuit responded accurately to changes in light conditions and operated the motor smoothly without manual control. This project effectively demonstrates the concept of home automation by enhancing comfort, saving energy, and reducing human effort through automatic curtain operation.</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320269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CONCLUSION</a:t>
            </a:r>
            <a:endParaRPr lang="en-IN"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15175" y="1690688"/>
            <a:ext cx="10515600" cy="4351338"/>
          </a:xfrm>
        </p:spPr>
        <p:txBody>
          <a:bodyPr>
            <a:normAutofit/>
          </a:bodyPr>
          <a:lstStyle/>
          <a:p>
            <a:pPr marL="0" indent="0" algn="just">
              <a:lnSpc>
                <a:spcPct val="150000"/>
              </a:lnSpc>
              <a:buNone/>
            </a:pPr>
            <a:r>
              <a:rPr lang="en-US" sz="2000" dirty="0">
                <a:latin typeface="Times New Roman" panose="02020603050405020304" pitchFamily="18" charset="0"/>
                <a:cs typeface="Times New Roman" panose="02020603050405020304" pitchFamily="18" charset="0"/>
              </a:rPr>
              <a:t>The Automatic Curtain Closer system provides an efficient, user-friendly, and innovative approach to home automation. By automatically controlling the movement of curtains based on environmental conditions or user settings, it enhances comfort, privacy, and energy conservation. The use of sensors and a microcontroller ensures reliable and precise operation without human intervention. This project demonstrates how simple automation can significantly improve daily living convenience while reducing energy usage. With further development, such as IoT integration and mobile control, the system can become an essential feature in smart homes, contributing to a more sustainable and modern lifestyle.</a:t>
            </a:r>
          </a:p>
          <a:p>
            <a:pPr algn="just">
              <a:lnSpc>
                <a:spcPct val="150000"/>
              </a:lnSpc>
            </a:pP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811111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FUTURE SCOPE</a:t>
            </a:r>
            <a:endParaRPr lang="en-IN" sz="36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1838289"/>
            <a:ext cx="10391078" cy="309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2000" b="1" dirty="0"/>
              <a:t>IoT Integration:</a:t>
            </a:r>
            <a:r>
              <a:rPr lang="en-US" sz="2000" dirty="0"/>
              <a:t> The system can be connected to the Internet of Things (IoT) to enable remote control through smartphones or voice assistants like Alexa and Google Assistant.</a:t>
            </a:r>
          </a:p>
          <a:p>
            <a:r>
              <a:rPr lang="en-US" sz="2000" b="1" dirty="0"/>
              <a:t>Temperature and Motion Sensors:</a:t>
            </a:r>
            <a:r>
              <a:rPr lang="en-US" sz="2000" dirty="0"/>
              <a:t> Additional sensors can be added to respond to room temperature or human presence for better comfort and energy efficiency.</a:t>
            </a:r>
          </a:p>
          <a:p>
            <a:r>
              <a:rPr lang="en-US" sz="2000" b="1" dirty="0"/>
              <a:t>Solar Power Operation:</a:t>
            </a:r>
            <a:r>
              <a:rPr lang="en-US" sz="2000" dirty="0"/>
              <a:t> The system can be powered using solar energy to make it more eco-friendly and energy independent.</a:t>
            </a:r>
          </a:p>
          <a:p>
            <a:r>
              <a:rPr lang="en-US" sz="2000" b="1" dirty="0"/>
              <a:t>Advanced Scheduling:</a:t>
            </a:r>
            <a:r>
              <a:rPr lang="en-US" sz="2000" dirty="0"/>
              <a:t> A real-time clock (RTC) module can be used to set automatic opening and closing times based on user preferences or sunrise/sunset timings.</a:t>
            </a:r>
          </a:p>
          <a:p>
            <a:pPr marL="0" marR="0" lvl="0" indent="0" algn="just" defTabSz="914400" rtl="0" eaLnBrk="0" fontAlgn="base" latinLnBrk="0" hangingPunct="0">
              <a:lnSpc>
                <a:spcPct val="150000"/>
              </a:lnSpc>
              <a:spcBef>
                <a:spcPct val="0"/>
              </a:spcBef>
              <a:spcAft>
                <a:spcPct val="0"/>
              </a:spcAft>
              <a:buClrTx/>
              <a:buSzTx/>
              <a:buFontTx/>
              <a:buChar char="•"/>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66303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sz="3600" dirty="0">
                <a:latin typeface="Times New Roman" panose="02020603050405020304" pitchFamily="18" charset="0"/>
                <a:cs typeface="Times New Roman" panose="02020603050405020304" pitchFamily="18" charset="0"/>
              </a:rPr>
              <a:t>REFERENCES</a:t>
            </a:r>
            <a:endParaRPr lang="en-IN" sz="3600" dirty="0">
              <a:latin typeface="Times New Roman" panose="02020603050405020304" pitchFamily="18" charset="0"/>
              <a:cs typeface="Times New Roman" panose="02020603050405020304" pitchFamily="18" charset="0"/>
            </a:endParaRPr>
          </a:p>
        </p:txBody>
      </p:sp>
      <p:sp>
        <p:nvSpPr>
          <p:cNvPr id="4" name="Rectangle 1"/>
          <p:cNvSpPr>
            <a:spLocks noGrp="1" noChangeArrowheads="1"/>
          </p:cNvSpPr>
          <p:nvPr>
            <p:ph idx="1"/>
          </p:nvPr>
        </p:nvSpPr>
        <p:spPr bwMode="auto">
          <a:xfrm>
            <a:off x="838200" y="1971987"/>
            <a:ext cx="9852378" cy="40586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buFont typeface="+mj-lt"/>
              <a:buAutoNum type="arabicPeriod"/>
            </a:pPr>
            <a:r>
              <a:rPr lang="en-US" sz="2000" dirty="0" err="1">
                <a:latin typeface="Times New Roman" panose="02020603050405020304" pitchFamily="18" charset="0"/>
                <a:cs typeface="Times New Roman" panose="02020603050405020304" pitchFamily="18" charset="0"/>
              </a:rPr>
              <a:t>Sedra</a:t>
            </a:r>
            <a:r>
              <a:rPr lang="en-US" sz="2000" dirty="0">
                <a:latin typeface="Times New Roman" panose="02020603050405020304" pitchFamily="18" charset="0"/>
                <a:cs typeface="Times New Roman" panose="02020603050405020304" pitchFamily="18" charset="0"/>
              </a:rPr>
              <a:t>, A.S. &amp; Smith, K.C. – </a:t>
            </a:r>
            <a:r>
              <a:rPr lang="en-US" sz="2000" i="1" dirty="0">
                <a:latin typeface="Times New Roman" panose="02020603050405020304" pitchFamily="18" charset="0"/>
                <a:cs typeface="Times New Roman" panose="02020603050405020304" pitchFamily="18" charset="0"/>
              </a:rPr>
              <a:t>Microelectronic Circuits</a:t>
            </a:r>
            <a:r>
              <a:rPr lang="en-US" sz="2000" dirty="0">
                <a:latin typeface="Times New Roman" panose="02020603050405020304" pitchFamily="18" charset="0"/>
                <a:cs typeface="Times New Roman" panose="02020603050405020304" pitchFamily="18" charset="0"/>
              </a:rPr>
              <a:t>, 7th Edition, Oxford University Press, 2015.</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Datasheet – </a:t>
            </a:r>
            <a:r>
              <a:rPr lang="en-US" sz="2000" b="1" dirty="0">
                <a:latin typeface="Times New Roman" panose="02020603050405020304" pitchFamily="18" charset="0"/>
                <a:cs typeface="Times New Roman" panose="02020603050405020304" pitchFamily="18" charset="0"/>
              </a:rPr>
              <a:t>IC 2822A Audio Amplifier IC</a:t>
            </a:r>
            <a:r>
              <a:rPr lang="en-US" sz="2000" dirty="0">
                <a:latin typeface="Times New Roman" panose="02020603050405020304" pitchFamily="18" charset="0"/>
                <a:cs typeface="Times New Roman" panose="02020603050405020304" pitchFamily="18" charset="0"/>
              </a:rPr>
              <a:t>, STMicroelectronics. Available at: </a:t>
            </a:r>
            <a:r>
              <a:rPr lang="en-US" sz="2000" dirty="0">
                <a:latin typeface="Times New Roman" panose="02020603050405020304" pitchFamily="18" charset="0"/>
                <a:cs typeface="Times New Roman" panose="02020603050405020304" pitchFamily="18" charset="0"/>
                <a:hlinkClick r:id="rId2"/>
              </a:rPr>
              <a:t>https://www.st.com/resource/en/datasheet/tda2822.pdf</a:t>
            </a:r>
            <a:endParaRPr lang="en-US" sz="2000" dirty="0">
              <a:latin typeface="Times New Roman" panose="02020603050405020304" pitchFamily="18" charset="0"/>
              <a:cs typeface="Times New Roman" panose="02020603050405020304" pitchFamily="18" charset="0"/>
            </a:endParaRPr>
          </a:p>
          <a:p>
            <a:pPr marL="342900" indent="-342900">
              <a:buFont typeface="+mj-lt"/>
              <a:buAutoNum type="arabicPeriod"/>
            </a:pPr>
            <a:r>
              <a:rPr lang="en-US" sz="2000" dirty="0" err="1">
                <a:latin typeface="Times New Roman" panose="02020603050405020304" pitchFamily="18" charset="0"/>
                <a:cs typeface="Times New Roman" panose="02020603050405020304" pitchFamily="18" charset="0"/>
              </a:rPr>
              <a:t>Gayakwad</a:t>
            </a:r>
            <a:r>
              <a:rPr lang="en-US" sz="2000" dirty="0">
                <a:latin typeface="Times New Roman" panose="02020603050405020304" pitchFamily="18" charset="0"/>
                <a:cs typeface="Times New Roman" panose="02020603050405020304" pitchFamily="18" charset="0"/>
              </a:rPr>
              <a:t>, R.A. – </a:t>
            </a:r>
            <a:r>
              <a:rPr lang="en-US" sz="2000" i="1" dirty="0">
                <a:latin typeface="Times New Roman" panose="02020603050405020304" pitchFamily="18" charset="0"/>
                <a:cs typeface="Times New Roman" panose="02020603050405020304" pitchFamily="18" charset="0"/>
              </a:rPr>
              <a:t>Op-Amps and Linear Integrated Circuits</a:t>
            </a:r>
            <a:r>
              <a:rPr lang="en-US" sz="2000" dirty="0">
                <a:latin typeface="Times New Roman" panose="02020603050405020304" pitchFamily="18" charset="0"/>
                <a:cs typeface="Times New Roman" panose="02020603050405020304" pitchFamily="18" charset="0"/>
              </a:rPr>
              <a:t>, 4th Edition, Prentice Hall, 2001.</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Research Paper: Sharma, P., &amp; Verma, S. (2020). </a:t>
            </a:r>
            <a:r>
              <a:rPr lang="en-US" sz="2000" i="1" dirty="0">
                <a:latin typeface="Times New Roman" panose="02020603050405020304" pitchFamily="18" charset="0"/>
                <a:cs typeface="Times New Roman" panose="02020603050405020304" pitchFamily="18" charset="0"/>
              </a:rPr>
              <a:t>“Design and Implementation of Automatic Curtain Control System Using LDR Sensor.”</a:t>
            </a:r>
            <a:r>
              <a:rPr lang="en-US" sz="2000" dirty="0">
                <a:latin typeface="Times New Roman" panose="02020603050405020304" pitchFamily="18" charset="0"/>
                <a:cs typeface="Times New Roman" panose="02020603050405020304" pitchFamily="18" charset="0"/>
              </a:rPr>
              <a:t> International Journal of Engineering Research &amp; Technology (IJERT), Vol. 9, Issue 5, pp. 456–460.</a:t>
            </a:r>
          </a:p>
          <a:p>
            <a:pPr marL="342900" indent="-342900">
              <a:buFont typeface="+mj-lt"/>
              <a:buAutoNum type="arabicPeriod"/>
            </a:pPr>
            <a:r>
              <a:rPr lang="en-US" sz="2000" dirty="0">
                <a:latin typeface="Times New Roman" panose="02020603050405020304" pitchFamily="18" charset="0"/>
                <a:cs typeface="Times New Roman" panose="02020603050405020304" pitchFamily="18" charset="0"/>
              </a:rPr>
              <a:t>Electronics Tutorials – </a:t>
            </a:r>
            <a:r>
              <a:rPr lang="en-US" sz="2000" i="1" dirty="0">
                <a:latin typeface="Times New Roman" panose="02020603050405020304" pitchFamily="18" charset="0"/>
                <a:cs typeface="Times New Roman" panose="02020603050405020304" pitchFamily="18" charset="0"/>
              </a:rPr>
              <a:t>“Light Dependent Resistor (LDR) Circuits.”</a:t>
            </a:r>
            <a:r>
              <a:rPr lang="en-US" sz="2000" dirty="0">
                <a:latin typeface="Times New Roman" panose="02020603050405020304" pitchFamily="18" charset="0"/>
                <a:cs typeface="Times New Roman" panose="02020603050405020304" pitchFamily="18" charset="0"/>
              </a:rPr>
              <a:t> Available at: </a:t>
            </a:r>
            <a:r>
              <a:rPr lang="en-US" sz="2000" dirty="0">
                <a:latin typeface="Times New Roman" panose="02020603050405020304" pitchFamily="18" charset="0"/>
                <a:cs typeface="Times New Roman" panose="02020603050405020304" pitchFamily="18" charset="0"/>
                <a:hlinkClick r:id="rId3"/>
              </a:rPr>
              <a:t>https://www.electronics-tutorials.ws/io/io_4.html</a:t>
            </a:r>
            <a:endParaRPr lang="en-US" sz="2000" dirty="0">
              <a:latin typeface="Times New Roman" panose="02020603050405020304" pitchFamily="18" charset="0"/>
              <a:cs typeface="Times New Roman" panose="02020603050405020304" pitchFamily="18" charset="0"/>
            </a:endParaRPr>
          </a:p>
          <a:p>
            <a:pPr marL="342900" marR="0" lvl="0" indent="-342900" algn="l" defTabSz="914400" rtl="0" eaLnBrk="0" fontAlgn="base" latinLnBrk="0" hangingPunct="0">
              <a:lnSpc>
                <a:spcPct val="150000"/>
              </a:lnSpc>
              <a:spcBef>
                <a:spcPct val="0"/>
              </a:spcBef>
              <a:spcAft>
                <a:spcPct val="0"/>
              </a:spcAft>
              <a:buClrTx/>
              <a:buSzTx/>
              <a:buFont typeface="+mj-lt"/>
              <a:buAutoNum type="arabicPeriod"/>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469323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TotalTime>
  <Words>1160</Words>
  <Application>Microsoft Office PowerPoint</Application>
  <PresentationFormat>Widescreen</PresentationFormat>
  <Paragraphs>54</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PowerPoint Presentation</vt:lpstr>
      <vt:lpstr>                             ABSTRACT</vt:lpstr>
      <vt:lpstr>COMPONENTS REQUIRED </vt:lpstr>
      <vt:lpstr>CIRCUIT DESIGN</vt:lpstr>
      <vt:lpstr>CIRCUIT DESIGN EXPLANATION</vt:lpstr>
      <vt:lpstr>PowerPoint Presentation</vt:lpstr>
      <vt:lpstr>WORKING PRINCIPLE </vt:lpstr>
      <vt:lpstr>PowerPoint Presentation</vt:lpstr>
      <vt:lpstr>RESULT AND DISCUSSION </vt:lpstr>
      <vt:lpstr>PowerPoint Presentation</vt:lpstr>
      <vt:lpstr>CONCLUSION</vt:lpstr>
      <vt:lpstr>FUTURE SCOPE</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lenovo</dc:creator>
  <cp:lastModifiedBy>HP</cp:lastModifiedBy>
  <cp:revision>23</cp:revision>
  <dcterms:created xsi:type="dcterms:W3CDTF">2025-09-10T14:23:00Z</dcterms:created>
  <dcterms:modified xsi:type="dcterms:W3CDTF">2026-02-04T15:37:28Z</dcterms:modified>
</cp:coreProperties>
</file>